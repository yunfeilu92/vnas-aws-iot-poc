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Cost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bubble3D val="0"/>
            <c:spPr>
              <a:solidFill>
                <a:srgbClr val="0EEDAF"/>
              </a:solidFill>
              <a:effectLst/>
            </c:spPr>
          </c:dPt>
          <c:dPt>
            <c:idx val="2"/>
            <c:bubble3D val="0"/>
            <c:spPr>
              <a:solidFill>
                <a:srgbClr val="FF706E"/>
              </a:solidFill>
              <a:effectLst/>
            </c:spPr>
          </c:dPt>
          <c:dPt>
            <c:idx val="3"/>
            <c:bubble3D val="0"/>
            <c:spPr>
              <a:solidFill>
                <a:srgbClr val="F2FF85"/>
              </a:solidFill>
              <a:effectLst/>
            </c:spPr>
          </c:dPt>
          <c:dPt>
            <c:idx val="4"/>
            <c:bubble3D val="0"/>
            <c:spPr>
              <a:solidFill>
                <a:srgbClr val="BC007A"/>
              </a:solidFill>
              <a:effectLst/>
            </c:spPr>
          </c:dPt>
          <c:dPt>
            <c:idx val="5"/>
            <c:bubble3D val="0"/>
            <c:spPr>
              <a:solidFill>
                <a:srgbClr val="2E77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IoT Core</c:v>
                </c:pt>
                <c:pt idx="1">
                  <c:v>MSK</c:v>
                </c:pt>
                <c:pt idx="2">
                  <c:v>Flink</c:v>
                </c:pt>
                <c:pt idx="3">
                  <c:v>S3</c:v>
                </c:pt>
                <c:pt idx="4">
                  <c:v>Transfer</c:v>
                </c:pt>
                <c:pt idx="5">
                  <c:v>Athena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28600</c:v>
                </c:pt>
                <c:pt idx="1">
                  <c:v>8100</c:v>
                </c:pt>
                <c:pt idx="2">
                  <c:v>2500</c:v>
                </c:pt>
                <c:pt idx="3">
                  <c:v>2400</c:v>
                </c:pt>
                <c:pt idx="4">
                  <c:v>1750</c:v>
                </c:pt>
                <c:pt idx="5">
                  <c:v>275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D1D5D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63762"/>
            <a:ext cx="473448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Vehicle Telemetry</a:t>
            </a:r>
            <a:endParaRPr lang="en-US" sz="3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913013"/>
            <a:ext cx="47344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Solution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2000" y="3716238"/>
            <a:ext cx="473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Region: eu-central-1 (Frankfurt) | 5,000 Vehicles | ~129 TB/month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Amazon Web Services, Inc. or its affiliates. All rights reserved.</a:t>
            </a:r>
            <a:endParaRPr lang="en-US" sz="600" dirty="0"/>
          </a:p>
        </p:txBody>
      </p:sp>
      <p:pic>
        <p:nvPicPr>
          <p:cNvPr id="7" name="Image 0" descr="/Users/yunfeilu/Documents/Github/vnas-aws-iot-poc/docs/pptx-workspace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"/>
            <a:ext cx="2560320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Scenario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60375"/>
            <a:ext cx="1854250" cy="837902"/>
          </a:xfrm>
          <a:prstGeom prst="roundRect">
            <a:avLst>
              <a:gd name="adj" fmla="val 90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860375"/>
            <a:ext cx="0" cy="83790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850" y="1038076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850" y="1387227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Vehicles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5350" y="860375"/>
            <a:ext cx="1854250" cy="837902"/>
          </a:xfrm>
          <a:prstGeom prst="roundRect">
            <a:avLst>
              <a:gd name="adj" fmla="val 90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84400" y="860375"/>
            <a:ext cx="0" cy="83790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6601" y="1038076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KB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06601" y="1387227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1799779"/>
            <a:ext cx="1854250" cy="837902"/>
          </a:xfrm>
          <a:prstGeom prst="roundRect">
            <a:avLst>
              <a:gd name="adj" fmla="val 90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1799779"/>
            <a:ext cx="0" cy="83790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850" y="1977479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msg/s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0850" y="2326630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Vehicle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5350" y="1799779"/>
            <a:ext cx="1854250" cy="837902"/>
          </a:xfrm>
          <a:prstGeom prst="roundRect">
            <a:avLst>
              <a:gd name="adj" fmla="val 90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84400" y="1799779"/>
            <a:ext cx="0" cy="83790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6601" y="1977479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06601" y="2326630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Runtime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2739182"/>
            <a:ext cx="1854250" cy="837902"/>
          </a:xfrm>
          <a:prstGeom prst="roundRect">
            <a:avLst>
              <a:gd name="adj" fmla="val 90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" y="2739182"/>
            <a:ext cx="0" cy="83790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850" y="2916882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 MB/s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0850" y="3266033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Throughput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5350" y="2739182"/>
            <a:ext cx="1854250" cy="837902"/>
          </a:xfrm>
          <a:prstGeom prst="roundRect">
            <a:avLst>
              <a:gd name="adj" fmla="val 90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84400" y="2739182"/>
            <a:ext cx="0" cy="83790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06601" y="2916882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TB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806601" y="3266033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Volume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5002" y="911126"/>
            <a:ext cx="3834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5002" y="1222177"/>
            <a:ext cx="3759398" cy="167699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topic: dt/vehicles/{vin}/telemetry</a:t>
            </a:r>
            <a:endParaRPr lang="en-US" sz="11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Core MQTT max payload: 128KB</a:t>
            </a:r>
            <a:endParaRPr lang="en-US" sz="11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Shadow limit: 8KB per document</a:t>
            </a:r>
            <a:endParaRPr lang="en-US" sz="11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all 5,000 vehicles online</a:t>
            </a:r>
            <a:endParaRPr lang="en-US" sz="11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messages: ~1.08 billion</a:t>
            </a:r>
            <a:endParaRPr lang="en-US" sz="11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data volume: ~4.3 TB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Amazon Web Services, Inc. or its affiliates. All rights reserved.</a:t>
            </a:r>
            <a:endParaRPr lang="en-US" sz="600" dirty="0"/>
          </a:p>
        </p:txBody>
      </p:sp>
      <p:pic>
        <p:nvPicPr>
          <p:cNvPr id="31" name="Image 0" descr="/Users/yunfeilu/Documents/Github/vnas-aws-iot-poc/docs/pptx-workspace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Amazon Web Services, Inc. or its affiliates. All rights reserved.</a:t>
            </a:r>
            <a:endParaRPr lang="en-US" sz="600" dirty="0"/>
          </a:p>
        </p:txBody>
      </p:sp>
      <p:pic>
        <p:nvPicPr>
          <p:cNvPr id="5" name="Image 0" descr="/Users/yunfeilu/Documents/Github/vnas-aws-iot-poc/docs/pptx-workspace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  <p:pic>
        <p:nvPicPr>
          <p:cNvPr id="6" name="Image 1" descr="/Users/yunfeilu/Documents/Github/vnas-aws-iot-poc/docs/iot-pipeline-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1043" y="1008162"/>
            <a:ext cx="992608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Details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1047750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80962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Data Path (128KB)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158776"/>
            <a:ext cx="3810000" cy="873472"/>
          </a:xfrm>
          <a:prstGeom prst="roundRect">
            <a:avLst>
              <a:gd name="adj" fmla="val 581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260277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450777"/>
            <a:ext cx="357530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Broker + Rules Engine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dt/vehicles/{vin}/telemetry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128KB msg = 26 billing blocks (5KB each)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108448"/>
            <a:ext cx="3810000" cy="873472"/>
          </a:xfrm>
          <a:prstGeom prst="roundRect">
            <a:avLst>
              <a:gd name="adj" fmla="val 581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209949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MSK (Provisioned)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2400449"/>
            <a:ext cx="357530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9x kafka.m5.2xlarge brokers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RF=3, cluster I/O ~2,500 MB/s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3-day retention, ~40TB storage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3058120"/>
            <a:ext cx="3810000" cy="713482"/>
          </a:xfrm>
          <a:prstGeom prst="roundRect">
            <a:avLst>
              <a:gd name="adj" fmla="val 712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3159621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Apache Flink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2000" y="3350121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KPUs for stream processing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and writes to S3 in Parquet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4400" y="1047750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400" y="80962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and Query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4400" y="1158776"/>
            <a:ext cx="3810000" cy="873472"/>
          </a:xfrm>
          <a:prstGeom prst="roundRect">
            <a:avLst>
              <a:gd name="adj" fmla="val 581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6800" y="1260277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6800" y="1450777"/>
            <a:ext cx="357530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format (~50% compression)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 TB/month (compressed)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by date/vehicle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4400" y="2108448"/>
            <a:ext cx="3810000" cy="873472"/>
          </a:xfrm>
          <a:prstGeom prst="roundRect">
            <a:avLst>
              <a:gd name="adj" fmla="val 581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0" y="2209949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Athena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6800" y="2400449"/>
            <a:ext cx="357530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SQL queries on S3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$5/TB scanned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+ partitioning reduces cost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4400" y="3321546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4400" y="308342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State (low frequency)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24400" y="3432572"/>
            <a:ext cx="3810000" cy="873472"/>
          </a:xfrm>
          <a:prstGeom prst="roundRect">
            <a:avLst>
              <a:gd name="adj" fmla="val 581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6800" y="3534073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Shadow (Named Shadow)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6800" y="3724573"/>
            <a:ext cx="357530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sync: online status, firmware version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8KB per document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telemetry data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Amazon Web Services, Inc. or its affiliates. All rights reserved.</a:t>
            </a:r>
            <a:endParaRPr lang="en-US" sz="600" dirty="0"/>
          </a:p>
        </p:txBody>
      </p:sp>
      <p:pic>
        <p:nvPicPr>
          <p:cNvPr id="29" name="Image 0" descr="/Users/yunfeilu/Documents/Github/vnas-aws-iot-poc/docs/pptx-workspace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 Estimation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9625"/>
            <a:ext cx="44043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Breakdown (USD/month)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Amazon Web Services, Inc. or its affiliates. All rights reserved.</a:t>
            </a:r>
            <a:endParaRPr lang="en-US" sz="600" dirty="0"/>
          </a:p>
        </p:txBody>
      </p:sp>
      <p:pic>
        <p:nvPicPr>
          <p:cNvPr id="6" name="Image 0" descr="/Users/yunfeilu/Documents/Github/vnas-aws-iot-poc/docs/pptx-workspace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088975"/>
          <a:ext cx="431795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51B"/>
                          </a:solidFill>
                        </a:rPr>
                        <a:t>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51B"/>
                          </a:solidFill>
                        </a:rPr>
                        <a:t>Monthly Cost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AWS IoT Core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~$28,600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Amazon MSK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~$8,100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Managed Flink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~$2,500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Amazon S3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$1,600 - $3,200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Data Transfer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$1,500 - $2,000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Amazon Athena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$50 - $500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01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</a:rPr>
                        <a:t>~$42,350 - $44,900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015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232350" y="1198513"/>
          <a:ext cx="3555950" cy="3555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9625"/>
            <a:ext cx="2539901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819150"/>
            <a:ext cx="2539901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01" y="955625"/>
            <a:ext cx="2228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 Messages to &lt;5KB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7301" y="1149251"/>
            <a:ext cx="222818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IoT Core billing blocks from 26 to 1. Use Protocol Buffers or gzip at vehicle edge.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7301" y="1509861"/>
            <a:ext cx="1675656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1547961"/>
            <a:ext cx="150210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Core: $28K to $1.1K (-96%)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01901" y="809625"/>
            <a:ext cx="2540050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1901" y="819150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9602" y="955625"/>
            <a:ext cx="2228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Aggregation (10s)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9602" y="1149251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10 messages into 1 batch before publishing. Reduces message count by 10x.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9602" y="1509861"/>
            <a:ext cx="1427708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81102" y="1547961"/>
            <a:ext cx="124920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Messages: 1.08B to 108M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94350" y="809625"/>
            <a:ext cx="2540050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94350" y="819150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051" y="955625"/>
            <a:ext cx="2228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Off-Peak Scheduling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051" y="1149251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 vehicle data transmission to reduce peak throughput. Smaller MSK instances.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051" y="1509861"/>
            <a:ext cx="1427559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73552" y="1547961"/>
            <a:ext cx="12490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MSK: smaller broker type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600" y="1956792"/>
            <a:ext cx="2539901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1966317"/>
            <a:ext cx="2539901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301" y="2102793"/>
            <a:ext cx="2228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Parquet Format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7301" y="2296418"/>
            <a:ext cx="222818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Columnar storage with ~50% compression. Reduces storage cost and Athena scan volume.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7301" y="2657029"/>
            <a:ext cx="1407765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8802" y="2695129"/>
            <a:ext cx="122885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129TB to ~64TB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1901" y="1956792"/>
            <a:ext cx="2540050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01901" y="1966317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9602" y="2102793"/>
            <a:ext cx="2228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Partition Strategy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9602" y="2296418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by date and vehicle ID. Use projection for dynamic partition discovery.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9602" y="2657029"/>
            <a:ext cx="1308943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81102" y="2695129"/>
            <a:ext cx="112806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cost: up to -90%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94350" y="1956792"/>
            <a:ext cx="2540050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994350" y="1966317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051" y="2102793"/>
            <a:ext cx="2228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Optimization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051" y="2296418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+ batching can reduce total monthly cost from ~$44K to under $15K.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72051" y="2657029"/>
            <a:ext cx="1589336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73552" y="2695129"/>
            <a:ext cx="141406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~$44K to ~$15K (-66%)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9600" y="3129260"/>
            <a:ext cx="7924800" cy="396776"/>
          </a:xfrm>
          <a:prstGeom prst="rect">
            <a:avLst/>
          </a:prstGeom>
          <a:solidFill>
            <a:srgbClr val="FF99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28650" y="3129260"/>
            <a:ext cx="0" cy="396776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850" y="3256211"/>
            <a:ext cx="76300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Message compression alone saves ~$27K/month. Prioritize vehicle-edge optimizations first.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Amazon Web Services, Inc. or its affiliates. All rights reserved.</a:t>
            </a:r>
            <a:endParaRPr lang="en-US" sz="600" dirty="0"/>
          </a:p>
        </p:txBody>
      </p:sp>
      <p:pic>
        <p:nvPicPr>
          <p:cNvPr id="44" name="Image 0" descr="/Users/yunfeilu/Documents/Github/vnas-aws-iot-poc/docs/pptx-workspace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Vehicle Telemetry Data Pipeline - AWS Solution Architecture</dc:title>
  <dc:subject>PptxGenJS Presentation</dc:subject>
  <dc:creator>Yunfei Lu</dc:creator>
  <cp:lastModifiedBy>Yunfei Lu</cp:lastModifiedBy>
  <cp:revision>1</cp:revision>
  <dcterms:created xsi:type="dcterms:W3CDTF">2026-03-09T07:34:31Z</dcterms:created>
  <dcterms:modified xsi:type="dcterms:W3CDTF">2026-03-09T07:34:31Z</dcterms:modified>
</cp:coreProperties>
</file>