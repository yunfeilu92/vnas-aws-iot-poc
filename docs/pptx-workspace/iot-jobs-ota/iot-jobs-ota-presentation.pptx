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658987"/>
            <a:ext cx="3933867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Jobs &amp;</a:t>
            </a:r>
            <a:endParaRPr lang="en-US" sz="3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升级方案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2922538"/>
            <a:ext cx="393386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0"/>
              </a:spcAft>
              <a:buNone/>
            </a:pPr>
            <a:r>
              <a:rPr lang="en-US" sz="20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状态机、流程与最佳实践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2000" y="3782913"/>
            <a:ext cx="39338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AWS IoT Core 的设备固件管理与远程升级完整方案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7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4320"/>
            <a:ext cx="2560320" cy="1024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5829" y="1750963"/>
            <a:ext cx="34523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845829" y="2112913"/>
            <a:ext cx="345234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Jobs 状态机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4050" y="2903488"/>
            <a:ext cx="1015901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45829" y="3144738"/>
            <a:ext cx="34523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Execution 生命周期与状态转换规则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8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Execution 状态机流程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697659" y="936427"/>
            <a:ext cx="1587401" cy="393502"/>
          </a:xfrm>
          <a:prstGeom prst="roundRect">
            <a:avLst>
              <a:gd name="adj" fmla="val 16137"/>
            </a:avLst>
          </a:prstGeom>
          <a:solidFill>
            <a:srgbClr val="0EEDAF">
              <a:alpha val="20000"/>
            </a:srgbClr>
          </a:solidFill>
          <a:ln w="19050">
            <a:solidFill>
              <a:srgbClr val="0EED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08429" y="1056977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81785" y="1355229"/>
            <a:ext cx="1619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队列等待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61259" y="1007715"/>
            <a:ext cx="4297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61259" y="1245840"/>
            <a:ext cx="4297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 可逆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58792" y="936427"/>
            <a:ext cx="1587401" cy="393502"/>
          </a:xfrm>
          <a:prstGeom prst="roundRect">
            <a:avLst>
              <a:gd name="adj" fmla="val 16137"/>
            </a:avLst>
          </a:prstGeom>
          <a:solidFill>
            <a:srgbClr val="FF9900">
              <a:alpha val="20000"/>
            </a:srgbClr>
          </a:solidFill>
          <a:ln w="19050">
            <a:solidFill>
              <a:srgbClr val="FF9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69562" y="1056977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IN_PROGRESS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2918" y="1355229"/>
            <a:ext cx="1619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设备执行中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71392" y="1574304"/>
            <a:ext cx="2052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60652" y="1888629"/>
            <a:ext cx="635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设备上报结果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19598" y="2107555"/>
            <a:ext cx="1180951" cy="323850"/>
          </a:xfrm>
          <a:prstGeom prst="roundRect">
            <a:avLst>
              <a:gd name="adj" fmla="val 1960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56709" y="2202805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SUCCEEDED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07788" y="2456706"/>
            <a:ext cx="12045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成功完成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27499" y="2107555"/>
            <a:ext cx="1180951" cy="323850"/>
          </a:xfrm>
          <a:prstGeom prst="roundRect">
            <a:avLst>
              <a:gd name="adj" fmla="val 1960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64610" y="2202805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5690" y="2456706"/>
            <a:ext cx="12045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执行失败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35401" y="2107555"/>
            <a:ext cx="1180951" cy="323850"/>
          </a:xfrm>
          <a:prstGeom prst="roundRect">
            <a:avLst>
              <a:gd name="adj" fmla="val 1960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2512" y="2202805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3591" y="2456706"/>
            <a:ext cx="12045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设备拒绝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302" y="2107555"/>
            <a:ext cx="1180951" cy="323850"/>
          </a:xfrm>
          <a:prstGeom prst="roundRect">
            <a:avLst>
              <a:gd name="adj" fmla="val 1960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80413" y="2202805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TIMED_OUT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31493" y="2456706"/>
            <a:ext cx="12045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执行超时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7667" y="2675781"/>
            <a:ext cx="22322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 管理员操作（任意状态均可触发） ────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27499" y="2894707"/>
            <a:ext cx="1180951" cy="323850"/>
          </a:xfrm>
          <a:prstGeom prst="roundRect">
            <a:avLst>
              <a:gd name="adj" fmla="val 19608"/>
            </a:avLst>
          </a:prstGeom>
          <a:solidFill>
            <a:srgbClr val="FF706E">
              <a:alpha val="15000"/>
            </a:srgbClr>
          </a:solidFill>
          <a:ln w="19050">
            <a:solidFill>
              <a:srgbClr val="FF70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64610" y="2989957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5690" y="3243858"/>
            <a:ext cx="1204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cancel-job API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35401" y="2894707"/>
            <a:ext cx="1180951" cy="323850"/>
          </a:xfrm>
          <a:prstGeom prst="roundRect">
            <a:avLst>
              <a:gd name="adj" fmla="val 19608"/>
            </a:avLst>
          </a:prstGeom>
          <a:solidFill>
            <a:srgbClr val="FF706E">
              <a:alpha val="15000"/>
            </a:srgbClr>
          </a:solidFill>
          <a:ln w="19050">
            <a:solidFill>
              <a:srgbClr val="FF70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72512" y="2989957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23591" y="3243858"/>
            <a:ext cx="1204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delete-job-execution API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802285" y="3459659"/>
            <a:ext cx="3539282" cy="295275"/>
          </a:xfrm>
          <a:prstGeom prst="roundRect">
            <a:avLst>
              <a:gd name="adj" fmla="val 1720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005435" y="355654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183136" y="3535859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初始状态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52118" y="355654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29819" y="3535859"/>
            <a:ext cx="317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执行中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95068" y="355654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72769" y="3535859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设备终态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41752" y="355654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70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619452" y="3535859"/>
            <a:ext cx="529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管理员终态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43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状态转换规则矩阵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8582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合法转换对照表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3955852"/>
            <a:ext cx="2506117" cy="829866"/>
          </a:xfrm>
          <a:prstGeom prst="roundRect">
            <a:avLst>
              <a:gd name="adj" fmla="val 612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4057352"/>
            <a:ext cx="22453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非终态 → 任意状态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4257377"/>
            <a:ext cx="224534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 和 IN_PROGRESS 可以互相转换，也可转到任意终态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18867" y="3955852"/>
            <a:ext cx="2506266" cy="829866"/>
          </a:xfrm>
          <a:prstGeom prst="roundRect">
            <a:avLst>
              <a:gd name="adj" fmla="val 612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71267" y="4057352"/>
            <a:ext cx="22454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终态不可逆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1267" y="4257377"/>
            <a:ext cx="2245495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SUCCEEDED / FAILED / REJECTED / TIMED_OUT / CANCELED / REMOVED 无法转换到任何其他状态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28283" y="3955852"/>
            <a:ext cx="2506117" cy="829866"/>
          </a:xfrm>
          <a:prstGeom prst="roundRect">
            <a:avLst>
              <a:gd name="adj" fmla="val 612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80683" y="4057352"/>
            <a:ext cx="22453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InvalidStateTransitionException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80683" y="4266902"/>
            <a:ext cx="224534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尝试非法转换时返回 HTTP 409 Conflict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15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87351"/>
          <a:ext cx="79248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9051B"/>
                          </a:solidFill>
                        </a:rPr>
                        <a:t>From \ To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ED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9051B"/>
                          </a:solidFill>
                        </a:rPr>
                        <a:t>QUEUED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ED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9051B"/>
                          </a:solidFill>
                        </a:rPr>
                        <a:t>IN_PROG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ED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9051B"/>
                          </a:solidFill>
                        </a:rPr>
                        <a:t>SUCCEED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ED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9051B"/>
                          </a:solidFill>
                        </a:rPr>
                        <a:t>FAILED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ED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9051B"/>
                          </a:solidFill>
                        </a:rPr>
                        <a:t>REJECT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ED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9051B"/>
                          </a:solidFill>
                        </a:rPr>
                        <a:t>TIMEOUT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ED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9051B"/>
                          </a:solidFill>
                        </a:rPr>
                        <a:t>CANCEL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ED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9051B"/>
                          </a:solidFill>
                        </a:rPr>
                        <a:t>REMOVED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EDA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QUEUED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5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IN_PROG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5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EEDAF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SUCCEED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5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FAILED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5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REJECT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5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TIMEOUT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5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CANCEL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5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REMOVED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706E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0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5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非终态 vs 终态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9600" y="1171575"/>
            <a:ext cx="381000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88582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Non-Terminal States (可转换)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1282601"/>
            <a:ext cx="3810000" cy="713482"/>
          </a:xfrm>
          <a:prstGeom prst="roundRect">
            <a:avLst>
              <a:gd name="adj" fmla="val 712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384102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1574602"/>
            <a:ext cx="35753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创建时自动设置，设备在队列中等待执行。可转换到 IN_PROGRESS 或直接到终态。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2072283"/>
            <a:ext cx="3810000" cy="713482"/>
          </a:xfrm>
          <a:prstGeom prst="roundRect">
            <a:avLst>
              <a:gd name="adj" fmla="val 712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173784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IN_PROGRESS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2364284"/>
            <a:ext cx="35753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设备正在执行任务，可多次更新进度。支持与 QUEUED 来回切换（暂停/恢复场景）。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2861965"/>
            <a:ext cx="3810000" cy="761107"/>
          </a:xfrm>
          <a:prstGeom prst="roundRect">
            <a:avLst>
              <a:gd name="adj" fmla="val 667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2000" y="2963466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特殊：QUEUED → SUCCEEDED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2000" y="3201591"/>
            <a:ext cx="35753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允许直接跳过 IN_PROGRESS。场景：设备检查发现已是目标状态。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24400" y="1171575"/>
            <a:ext cx="38100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4400" y="88582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States (不可逆)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24400" y="1282601"/>
            <a:ext cx="3810000" cy="553492"/>
          </a:xfrm>
          <a:prstGeom prst="roundRect">
            <a:avLst>
              <a:gd name="adj" fmla="val 917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76800" y="1384102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SUCCEEDED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6800" y="1574602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设备上报成功。OTA 场景：固件安装完成。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24400" y="1912293"/>
            <a:ext cx="3810000" cy="713482"/>
          </a:xfrm>
          <a:prstGeom prst="roundRect">
            <a:avLst>
              <a:gd name="adj" fmla="val 712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6800" y="2013793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/ REJECTED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6800" y="2204293"/>
            <a:ext cx="35753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= 可重试失败（网络、校验）。REJECTED = 不可重试（硬件不兼容）。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24400" y="2701975"/>
            <a:ext cx="3810000" cy="713482"/>
          </a:xfrm>
          <a:prstGeom prst="roundRect">
            <a:avLst>
              <a:gd name="adj" fmla="val 712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76800" y="2803475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TIMED_OUT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6800" y="2993975"/>
            <a:ext cx="35753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超过 inProgressTimeoutInMinutes 或 stepTimeout 后 AWS IoT 自动设置。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24400" y="3491657"/>
            <a:ext cx="3810000" cy="553492"/>
          </a:xfrm>
          <a:prstGeom prst="roundRect">
            <a:avLst>
              <a:gd name="adj" fmla="val 917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76800" y="3593157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CANCELED / REMOVED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6800" y="3783657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管理员操作触发：cancel-job 或 delete-job-execution API。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30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超时机制 (Timeout)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36575"/>
            <a:ext cx="1854250" cy="933152"/>
          </a:xfrm>
          <a:prstGeom prst="roundRect">
            <a:avLst>
              <a:gd name="adj" fmla="val 816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28650" y="936575"/>
            <a:ext cx="0" cy="933152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850" y="1114276"/>
            <a:ext cx="143804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850" y="1530102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In-Progress Timer 最大值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5350" y="936575"/>
            <a:ext cx="1854250" cy="933152"/>
          </a:xfrm>
          <a:prstGeom prst="roundRect">
            <a:avLst>
              <a:gd name="adj" fmla="val 816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84400" y="936575"/>
            <a:ext cx="0" cy="933152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6601" y="1114276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10,080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06601" y="1463427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分钟（最大超时）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1971229"/>
            <a:ext cx="1854250" cy="933152"/>
          </a:xfrm>
          <a:prstGeom prst="roundRect">
            <a:avLst>
              <a:gd name="adj" fmla="val 816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650" y="1971229"/>
            <a:ext cx="0" cy="933152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850" y="2148929"/>
            <a:ext cx="143804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分钟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50850" y="2564755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最小粒度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5350" y="1971229"/>
            <a:ext cx="1854250" cy="933152"/>
          </a:xfrm>
          <a:prstGeom prst="roundRect">
            <a:avLst>
              <a:gd name="adj" fmla="val 816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84400" y="1971229"/>
            <a:ext cx="0" cy="933152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6601" y="2148929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06601" y="2498080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取消当前 Step Timer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" y="3005882"/>
            <a:ext cx="1854250" cy="933152"/>
          </a:xfrm>
          <a:prstGeom prst="roundRect">
            <a:avLst>
              <a:gd name="adj" fmla="val 816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8650" y="3005882"/>
            <a:ext cx="0" cy="933152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850" y="3183582"/>
            <a:ext cx="143804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0850" y="3599408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独立超时互相约束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5350" y="3005882"/>
            <a:ext cx="1854250" cy="933152"/>
          </a:xfrm>
          <a:prstGeom prst="roundRect">
            <a:avLst>
              <a:gd name="adj" fmla="val 816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584400" y="3005882"/>
            <a:ext cx="0" cy="933152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06601" y="3183582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806601" y="3532733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自动触发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5002" y="987326"/>
            <a:ext cx="38345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双层超时机制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5002" y="1323826"/>
            <a:ext cx="3759398" cy="902047"/>
          </a:xfrm>
          <a:prstGeom prst="roundRect">
            <a:avLst>
              <a:gd name="adj" fmla="val 5632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27402" y="1425327"/>
            <a:ext cx="35236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In-Progress Timer (任务级别)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27402" y="1644402"/>
            <a:ext cx="352369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 Job 时配置 inProgressTimeoutInMinutes。执行进入 IN_PROGRESS 时开始计时，到期后自动设置为 TIMED_OUT 终态。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75002" y="2302073"/>
            <a:ext cx="3759398" cy="742057"/>
          </a:xfrm>
          <a:prstGeom prst="roundRect">
            <a:avLst>
              <a:gd name="adj" fmla="val 684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27402" y="2403574"/>
            <a:ext cx="35236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Timer (步骤级别)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27402" y="2622649"/>
            <a:ext cx="35236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UpdateJobExecution 请求中的 stepTimeoutInMinutes 设置。每次更新可重置，但绝对截止不能超过 In-Progress Timer。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75002" y="3120330"/>
            <a:ext cx="3759398" cy="742057"/>
          </a:xfrm>
          <a:prstGeom prst="roundRect">
            <a:avLst>
              <a:gd name="adj" fmla="val 684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27402" y="3221831"/>
            <a:ext cx="35236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约束关系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27402" y="3440906"/>
            <a:ext cx="35236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Timer 到期 ≤ In-Progress Timer 到期。设备可用 stepTimeout=-1 取消 Step Timer 而不影响 In-Progress Timer。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39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9285" y="1750963"/>
            <a:ext cx="33252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909285" y="2112913"/>
            <a:ext cx="332528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升级流程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901" y="2903488"/>
            <a:ext cx="1015901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09285" y="3144738"/>
            <a:ext cx="33252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端到端固件更新：从云端管理到设备执行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8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端到端流程架构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0682" y="976759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管理员/平台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0682" y="1138684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Setup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574602" y="860375"/>
            <a:ext cx="7188398" cy="489942"/>
          </a:xfrm>
          <a:prstGeom prst="roundRect">
            <a:avLst>
              <a:gd name="adj" fmla="val 10369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584127" y="860375"/>
            <a:ext cx="0" cy="489942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20602" y="949226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802087" y="999976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802087" y="1095226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上传固件到 S3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685604" y="101962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8754" y="949226"/>
            <a:ext cx="1246882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66912" y="999976"/>
            <a:ext cx="10905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966912" y="1095226"/>
            <a:ext cx="1090565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 Dynamic Thing Group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186386" y="101962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537" y="949226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71022" y="999976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471022" y="1095226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 IoT Job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354538" y="101962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57689" y="949226"/>
            <a:ext cx="957114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38745" y="999976"/>
            <a:ext cx="7950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638745" y="1095226"/>
            <a:ext cx="79500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 Job Document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43090" y="1413718"/>
            <a:ext cx="1784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MQTT Publish (jobs/notify-next)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0682" y="1741140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0682" y="1874490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Broker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574602" y="1610469"/>
            <a:ext cx="7188398" cy="489942"/>
          </a:xfrm>
          <a:prstGeom prst="roundRect">
            <a:avLst>
              <a:gd name="adj" fmla="val 10369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584127" y="1610469"/>
            <a:ext cx="0" cy="489942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20602" y="1699320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802087" y="1750070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802087" y="1845320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推送 Job 通知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85604" y="1769715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88754" y="1699320"/>
            <a:ext cx="986730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69514" y="1750070"/>
            <a:ext cx="8252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969514" y="1845320"/>
            <a:ext cx="8252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 Presigned URL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926235" y="1769715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29385" y="1699320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210870" y="1750070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210870" y="1845320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接收状态上报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94387" y="1769715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97537" y="1699320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379022" y="1750070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379022" y="1845320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 Execution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109740" y="2163812"/>
            <a:ext cx="20569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MQTT Subscribe / HTTPS Download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0682" y="2476946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设备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0682" y="2638871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Client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574602" y="2360563"/>
            <a:ext cx="7188398" cy="489942"/>
          </a:xfrm>
          <a:prstGeom prst="roundRect">
            <a:avLst>
              <a:gd name="adj" fmla="val 10369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1584127" y="2360563"/>
            <a:ext cx="0" cy="489942"/>
          </a:xfrm>
          <a:prstGeom prst="line">
            <a:avLst/>
          </a:prstGeom>
          <a:noFill/>
          <a:ln w="19050">
            <a:solidFill>
              <a:srgbClr val="FF70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20602" y="2449413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802087" y="2500164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802087" y="2595414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IN_PROGRESS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685604" y="2519809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888754" y="2449413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970239" y="2500164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7a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970239" y="2595414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下载固件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853755" y="2519809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056906" y="2449413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138391" y="2500164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138391" y="2595414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SHA256 校验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021907" y="2519809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225058" y="2449413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306543" y="2500164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306543" y="2595414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安装固件重启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190059" y="2519809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393210" y="2449413"/>
            <a:ext cx="942082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474416" y="2500164"/>
            <a:ext cx="7796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8a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474416" y="2595414"/>
            <a:ext cx="77966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上报 SUCCEEDED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152751" y="2913906"/>
            <a:ext cx="19692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Shadow Update and Fleet Indexing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60682" y="322704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后续自动化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60682" y="3388965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Management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574602" y="3110657"/>
            <a:ext cx="7188398" cy="489942"/>
          </a:xfrm>
          <a:prstGeom prst="roundRect">
            <a:avLst>
              <a:gd name="adj" fmla="val 10369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1584127" y="3110657"/>
            <a:ext cx="0" cy="489942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20602" y="3199507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1802087" y="3250257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1802087" y="3345507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 Shadow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685604" y="3269903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2888754" y="3199507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2970239" y="3250257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2970239" y="3345507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Index 索引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3853755" y="3269903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056906" y="3199507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4138391" y="3250257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138391" y="3345507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离开旧 Group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5021907" y="3269903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5225058" y="3199507"/>
            <a:ext cx="914251" cy="312241"/>
          </a:xfrm>
          <a:prstGeom prst="roundRect">
            <a:avLst>
              <a:gd name="adj" fmla="val 12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5306543" y="3250257"/>
            <a:ext cx="751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306543" y="3345507"/>
            <a:ext cx="75128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加入新 Group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87" name="Text 85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88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云端配置 vs 设备端流程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9600" y="1171575"/>
            <a:ext cx="381000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88582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Side (管理员操作)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1282601"/>
            <a:ext cx="3810000" cy="654248"/>
          </a:xfrm>
          <a:prstGeom prst="roundRect">
            <a:avLst>
              <a:gd name="adj" fmla="val 776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371451"/>
            <a:ext cx="3575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启用 Fleet Indexing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2000" y="1577727"/>
            <a:ext cx="357530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 Device Shadow 的 firmwareVersion 字段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2000" y="1743224"/>
            <a:ext cx="35753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update-indexing-configuration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09600" y="2000250"/>
            <a:ext cx="3810000" cy="654248"/>
          </a:xfrm>
          <a:prstGeom prst="roundRect">
            <a:avLst>
              <a:gd name="adj" fmla="val 776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2089100"/>
            <a:ext cx="3575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上传固件到 S3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2000" y="2295376"/>
            <a:ext cx="357530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 S3 Bucket，上传固件二进制文件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62000" y="2460873"/>
            <a:ext cx="35753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 cp firmware.bin s3://bucket/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09600" y="2717899"/>
            <a:ext cx="3810000" cy="654248"/>
          </a:xfrm>
          <a:prstGeom prst="roundRect">
            <a:avLst>
              <a:gd name="adj" fmla="val 776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2000" y="2806750"/>
            <a:ext cx="3575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创建 Dynamic Thing Group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2000" y="3013025"/>
            <a:ext cx="357530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查询：shadow.reported.firmwareVersion:1.0.2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62000" y="3178522"/>
            <a:ext cx="35753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create-dynamic-thing-group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9600" y="3435548"/>
            <a:ext cx="3810000" cy="654248"/>
          </a:xfrm>
          <a:prstGeom prst="roundRect">
            <a:avLst>
              <a:gd name="adj" fmla="val 776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2000" y="3524399"/>
            <a:ext cx="3575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创建 IoT Job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2000" y="3730675"/>
            <a:ext cx="357530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指定 target Group + Job Document (Presigned URL + checksum)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62000" y="3896171"/>
            <a:ext cx="35753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create-job --targets ...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24400" y="1171575"/>
            <a:ext cx="38100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4400" y="88582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Side (设备自动执行)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24400" y="1282601"/>
            <a:ext cx="3810000" cy="524173"/>
          </a:xfrm>
          <a:prstGeom prst="roundRect">
            <a:avLst>
              <a:gd name="adj" fmla="val 969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6800" y="1371451"/>
            <a:ext cx="3575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MQTT 连接 + 订阅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76800" y="1577727"/>
            <a:ext cx="357530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X.509 证书认证，订阅 jobs/notify-next 和 $next/get/accepted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24400" y="1870174"/>
            <a:ext cx="3810000" cy="524173"/>
          </a:xfrm>
          <a:prstGeom prst="roundRect">
            <a:avLst>
              <a:gd name="adj" fmla="val 969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76800" y="1959025"/>
            <a:ext cx="3575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接收 Job 通知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6800" y="2165300"/>
            <a:ext cx="357530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被动推送 (notify-next) 或主动查询 ($next/get)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24400" y="2457748"/>
            <a:ext cx="3810000" cy="524173"/>
          </a:xfrm>
          <a:prstGeom prst="roundRect">
            <a:avLst>
              <a:gd name="adj" fmla="val 969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76800" y="2546598"/>
            <a:ext cx="3575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下载 + 校验固件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76800" y="2752874"/>
            <a:ext cx="357530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Presigned URL 下载，SHA256 校验完整性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24400" y="3045321"/>
            <a:ext cx="3810000" cy="524173"/>
          </a:xfrm>
          <a:prstGeom prst="roundRect">
            <a:avLst>
              <a:gd name="adj" fmla="val 969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76800" y="3134171"/>
            <a:ext cx="3575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安装 + 重启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76800" y="3340447"/>
            <a:ext cx="357530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写入新固件、更新启动脚本、触发设备重启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24400" y="3632895"/>
            <a:ext cx="3810000" cy="524173"/>
          </a:xfrm>
          <a:prstGeom prst="roundRect">
            <a:avLst>
              <a:gd name="adj" fmla="val 969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76800" y="3721745"/>
            <a:ext cx="3575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上报结果 + 更新 Shadow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76800" y="3928021"/>
            <a:ext cx="357530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上报 SUCCEEDED，更新 firmwareVersion，自动离开旧 Group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40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关键技术点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85825"/>
            <a:ext cx="2539901" cy="1045666"/>
          </a:xfrm>
          <a:prstGeom prst="roundRect">
            <a:avLst>
              <a:gd name="adj" fmla="val 485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9600" y="895350"/>
            <a:ext cx="2539901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01" y="1031825"/>
            <a:ext cx="2228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Indexing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7301" y="1225451"/>
            <a:ext cx="222818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 Shadow 和 Registry 属性，支持基于 firmwareVersion 的动态查询。延迟仅几秒钟。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7301" y="1586061"/>
            <a:ext cx="1033165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8802" y="1624161"/>
            <a:ext cx="84676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设备自动分组基础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01901" y="885825"/>
            <a:ext cx="2540050" cy="1045666"/>
          </a:xfrm>
          <a:prstGeom prst="roundRect">
            <a:avLst>
              <a:gd name="adj" fmla="val 485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01901" y="895350"/>
            <a:ext cx="254005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9602" y="1031825"/>
            <a:ext cx="22283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Thing Group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9602" y="1225451"/>
            <a:ext cx="222834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基于查询条件自动匹配设备。Shadow 属性变化时自动加入/离开，无需手动管理。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9602" y="1586061"/>
            <a:ext cx="1137047" cy="218480"/>
          </a:xfrm>
          <a:prstGeom prst="roundRect">
            <a:avLst>
              <a:gd name="adj" fmla="val 11626"/>
            </a:avLst>
          </a:prstGeom>
          <a:solidFill>
            <a:srgbClr val="FF990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81102" y="1624161"/>
            <a:ext cx="95272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零人工干预设备管理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94350" y="885825"/>
            <a:ext cx="2540050" cy="1045666"/>
          </a:xfrm>
          <a:prstGeom prst="roundRect">
            <a:avLst>
              <a:gd name="adj" fmla="val 485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94350" y="895350"/>
            <a:ext cx="254005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051" y="1031825"/>
            <a:ext cx="22283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Presigned URL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051" y="1225451"/>
            <a:ext cx="222834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临时 S3 访问授权，可设置过期时间（推荐 2-24 小时）。设备无需配置 AWS 凭证。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72051" y="1586061"/>
            <a:ext cx="929432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73552" y="1624161"/>
            <a:ext cx="74095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安全的固件分发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9600" y="2032992"/>
            <a:ext cx="2539901" cy="1187946"/>
          </a:xfrm>
          <a:prstGeom prst="roundRect">
            <a:avLst>
              <a:gd name="adj" fmla="val 427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9600" y="2042517"/>
            <a:ext cx="2539901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301" y="2178993"/>
            <a:ext cx="2228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Jobs Topics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7301" y="2372618"/>
            <a:ext cx="222818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notify-next 被动接收 + $next/get 主动查询。双模式确保设备不漏掉任何 Job。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7301" y="2733229"/>
            <a:ext cx="1010989" cy="218480"/>
          </a:xfrm>
          <a:prstGeom prst="roundRect">
            <a:avLst>
              <a:gd name="adj" fmla="val 11626"/>
            </a:avLst>
          </a:prstGeom>
          <a:solidFill>
            <a:srgbClr val="FF990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8802" y="2771329"/>
            <a:ext cx="82414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Job 送达率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01901" y="2032992"/>
            <a:ext cx="2540050" cy="1187946"/>
          </a:xfrm>
          <a:prstGeom prst="roundRect">
            <a:avLst>
              <a:gd name="adj" fmla="val 427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301901" y="2042517"/>
            <a:ext cx="254005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9602" y="2178993"/>
            <a:ext cx="22283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Shadow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9602" y="2372618"/>
            <a:ext cx="2228341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设备状态持久化存储。升级后更新 firmwareVersion，Fleet Index 自动反映最新状态。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79602" y="2875508"/>
            <a:ext cx="1033165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81102" y="2913608"/>
            <a:ext cx="84676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设备状态单一来源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94350" y="2032992"/>
            <a:ext cx="2540050" cy="1187946"/>
          </a:xfrm>
          <a:prstGeom prst="roundRect">
            <a:avLst>
              <a:gd name="adj" fmla="val 427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994350" y="2042517"/>
            <a:ext cx="254005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051" y="2178993"/>
            <a:ext cx="22283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版本去重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051" y="2410718"/>
            <a:ext cx="222834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设备重启后未完成 Job 会重新下发。通过检查 currentVersion 防止重复下载安装。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72051" y="2771329"/>
            <a:ext cx="721965" cy="218480"/>
          </a:xfrm>
          <a:prstGeom prst="roundRect">
            <a:avLst>
              <a:gd name="adj" fmla="val 11626"/>
            </a:avLst>
          </a:prstGeom>
          <a:solidFill>
            <a:srgbClr val="FF990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73552" y="2809429"/>
            <a:ext cx="52934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幂等性保障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9600" y="3347740"/>
            <a:ext cx="7924800" cy="434876"/>
          </a:xfrm>
          <a:prstGeom prst="rect">
            <a:avLst/>
          </a:prstGeom>
          <a:solidFill>
            <a:srgbClr val="FF99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28650" y="3347740"/>
            <a:ext cx="0" cy="434876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850" y="3474690"/>
            <a:ext cx="76300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核心模式：Shadow + Fleet Index + Dynamic Group = 全自动设备生命周期管理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44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设备端执行时间线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43484" y="1139726"/>
            <a:ext cx="1399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3484" y="1330226"/>
            <a:ext cx="1399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06451"/>
            <a:ext cx="1371600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720751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X.509 证书认证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1878062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MQTT 连接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3400" y="2035373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上报版本到 Shadow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3400" y="2192685"/>
            <a:ext cx="12435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815084" y="1139726"/>
            <a:ext cx="1399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15084" y="1330226"/>
            <a:ext cx="1399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1606451"/>
            <a:ext cx="1371600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05000" y="1720751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订阅 notify-next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05000" y="1878062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 pending Jobs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05000" y="2035373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 Job Document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05000" y="2192685"/>
            <a:ext cx="12435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IN_PROGRESS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186684" y="1139726"/>
            <a:ext cx="1399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86684" y="1330226"/>
            <a:ext cx="1399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1606451"/>
            <a:ext cx="1371600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76600" y="1720751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Presigned URL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76600" y="1878062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下载固件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76600" y="2035373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实时上报进度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58284" y="1139726"/>
            <a:ext cx="1399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58284" y="1330226"/>
            <a:ext cx="1399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1606451"/>
            <a:ext cx="1371600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48200" y="1720751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SHA256 校验和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48200" y="1878062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签名验证 (可选)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48200" y="2035373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失败则 FAILED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29884" y="1139726"/>
            <a:ext cx="1399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29884" y="1330226"/>
            <a:ext cx="1399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1606451"/>
            <a:ext cx="1371600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19800" y="1720751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备份当前固件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19800" y="1878062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写入新固件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19800" y="2035373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更新启动脚本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19800" y="2192685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触发设备重启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01484" y="1139726"/>
            <a:ext cx="1399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01484" y="1330226"/>
            <a:ext cx="1399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上报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0" y="1606451"/>
            <a:ext cx="1371600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391400" y="1720751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上报 SUCCEEDED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91400" y="1878062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 Shadow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91400" y="2035373"/>
            <a:ext cx="1243584" cy="132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离开旧 Group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91400" y="2192685"/>
            <a:ext cx="12435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SUCCEEDED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45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关键概念对比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60375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TOPIC 模式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1225451"/>
            <a:ext cx="3619500" cy="1393329"/>
          </a:xfrm>
          <a:prstGeom prst="roundRect">
            <a:avLst>
              <a:gd name="adj" fmla="val 5469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244501"/>
            <a:ext cx="3619500" cy="0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01" y="1390501"/>
            <a:ext cx="3329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notify-next (被动)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7301" y="1969740"/>
            <a:ext cx="32640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01" y="1752302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触发时机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99482" y="1752302"/>
            <a:ext cx="10729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创建时自动推送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7301" y="2214116"/>
            <a:ext cx="32640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301" y="2025253"/>
            <a:ext cx="272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2025253"/>
            <a:ext cx="8680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jobs/notify-next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7301" y="2487067"/>
            <a:ext cx="32640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301" y="2269629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99482" y="2269629"/>
            <a:ext cx="10729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设备在线时新建 Job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53384" y="1817340"/>
            <a:ext cx="2419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4900" y="1225451"/>
            <a:ext cx="3619500" cy="1393329"/>
          </a:xfrm>
          <a:prstGeom prst="roundRect">
            <a:avLst>
              <a:gd name="adj" fmla="val 5469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914900" y="1244501"/>
            <a:ext cx="36195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2601" y="1390501"/>
            <a:ext cx="3329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$next/get (主动)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92601" y="1969740"/>
            <a:ext cx="32640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2601" y="1752302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触发时机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22952" y="1752302"/>
            <a:ext cx="9524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设备主动发起请求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92601" y="2214116"/>
            <a:ext cx="32640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2601" y="2025253"/>
            <a:ext cx="272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88151" y="2025253"/>
            <a:ext cx="783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jobs/$next/get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92601" y="2487067"/>
            <a:ext cx="32640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92601" y="2269629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62043" y="2269629"/>
            <a:ext cx="13205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设备上线查 pending Job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9600" y="2745730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类型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9600" y="3110805"/>
            <a:ext cx="3619500" cy="1421904"/>
          </a:xfrm>
          <a:prstGeom prst="roundRect">
            <a:avLst>
              <a:gd name="adj" fmla="val 5359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09600" y="3129855"/>
            <a:ext cx="3619500" cy="0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7301" y="3275856"/>
            <a:ext cx="3329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(快照)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7301" y="3855095"/>
            <a:ext cx="32640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7301" y="3637657"/>
            <a:ext cx="2381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17652" y="3637657"/>
            <a:ext cx="9524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创建时指定的设备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7301" y="4128046"/>
            <a:ext cx="32640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7301" y="3910608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完成条件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117652" y="3910608"/>
            <a:ext cx="9524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所有目标到达终态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7301" y="4400996"/>
            <a:ext cx="32640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7301" y="4183559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推荐场景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175695" y="4183559"/>
            <a:ext cx="893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 OTA 推送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53384" y="3716982"/>
            <a:ext cx="2419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14900" y="3110805"/>
            <a:ext cx="3619500" cy="1421904"/>
          </a:xfrm>
          <a:prstGeom prst="roundRect">
            <a:avLst>
              <a:gd name="adj" fmla="val 5359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914900" y="3129855"/>
            <a:ext cx="36195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92601" y="3275856"/>
            <a:ext cx="3329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(连续)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92601" y="3855095"/>
            <a:ext cx="32640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92601" y="3637657"/>
            <a:ext cx="2381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22952" y="3637657"/>
            <a:ext cx="9524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含后续加入的设备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92601" y="4128046"/>
            <a:ext cx="32640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92601" y="3910608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完成条件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73379" y="3910608"/>
            <a:ext cx="11049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endTime 到达才结束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92601" y="4400996"/>
            <a:ext cx="32640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92601" y="4183559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推荐场景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27702" y="4183559"/>
            <a:ext cx="10495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持续合规 / 滚动部署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57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最佳实践与故障排查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85825"/>
            <a:ext cx="2539901" cy="1226046"/>
          </a:xfrm>
          <a:prstGeom prst="roundRect">
            <a:avLst>
              <a:gd name="adj" fmla="val 414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9600" y="895350"/>
            <a:ext cx="2539901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01" y="1031825"/>
            <a:ext cx="22281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版本检查去重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7301" y="1263551"/>
            <a:ext cx="222818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收到 Job 时先检查当前版本，已是目标版本则直接上报 SUCCEEDED，避免重复下载安装。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7301" y="1624161"/>
            <a:ext cx="825698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8802" y="1662261"/>
            <a:ext cx="63515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防止重复执行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01901" y="885825"/>
            <a:ext cx="2540050" cy="1226046"/>
          </a:xfrm>
          <a:prstGeom prst="roundRect">
            <a:avLst>
              <a:gd name="adj" fmla="val 414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01901" y="895350"/>
            <a:ext cx="254005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9602" y="1031825"/>
            <a:ext cx="22283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 Topic 订阅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9602" y="1263551"/>
            <a:ext cx="2228341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同时订阅 notify-next（被动）和 $next/get（主动查询），确保离线期间创建的 Job 也不遗漏。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9602" y="1766441"/>
            <a:ext cx="907256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81102" y="1804541"/>
            <a:ext cx="7183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Job 覆盖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94350" y="885825"/>
            <a:ext cx="2540050" cy="1226046"/>
          </a:xfrm>
          <a:prstGeom prst="roundRect">
            <a:avLst>
              <a:gd name="adj" fmla="val 414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94350" y="895350"/>
            <a:ext cx="254005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051" y="1031825"/>
            <a:ext cx="22283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Presigned URL 有效期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051" y="1263551"/>
            <a:ext cx="222834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设置合理过期时间（2-24h）。URL 过期后设备无法下载，需重新创建 Job 或提供 S3 路径。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72051" y="1624161"/>
            <a:ext cx="815727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73552" y="1662261"/>
            <a:ext cx="62498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避免下载 404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9600" y="2213372"/>
            <a:ext cx="2539901" cy="1083766"/>
          </a:xfrm>
          <a:prstGeom prst="roundRect">
            <a:avLst>
              <a:gd name="adj" fmla="val 468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9600" y="2222897"/>
            <a:ext cx="2539901" cy="0"/>
          </a:xfrm>
          <a:prstGeom prst="line">
            <a:avLst/>
          </a:prstGeom>
          <a:noFill/>
          <a:ln w="19050">
            <a:solidFill>
              <a:srgbClr val="FF70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301" y="2359372"/>
            <a:ext cx="22281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故障：未收到 Job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7301" y="2591098"/>
            <a:ext cx="222818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检查是否订阅了 $next/get/accepted topic，并在连接后调用 requestPendingJobs()。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7301" y="2951708"/>
            <a:ext cx="909638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8802" y="2989808"/>
            <a:ext cx="7207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订阅排查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01901" y="2213372"/>
            <a:ext cx="2540050" cy="1083766"/>
          </a:xfrm>
          <a:prstGeom prst="roundRect">
            <a:avLst>
              <a:gd name="adj" fmla="val 468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301901" y="2222897"/>
            <a:ext cx="2540050" cy="0"/>
          </a:xfrm>
          <a:prstGeom prst="line">
            <a:avLst/>
          </a:prstGeom>
          <a:noFill/>
          <a:ln w="19050">
            <a:solidFill>
              <a:srgbClr val="FF70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9602" y="2359372"/>
            <a:ext cx="22283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故障：Checksum 失败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9602" y="2591098"/>
            <a:ext cx="222834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 S3 中的固件文件未被覆盖。重新计算 SHA256 并更新 Job Document。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79602" y="2951708"/>
            <a:ext cx="721965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81102" y="2989808"/>
            <a:ext cx="52934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文件完整性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94350" y="2213372"/>
            <a:ext cx="2540050" cy="1083766"/>
          </a:xfrm>
          <a:prstGeom prst="roundRect">
            <a:avLst>
              <a:gd name="adj" fmla="val 468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994350" y="2222897"/>
            <a:ext cx="2540050" cy="0"/>
          </a:xfrm>
          <a:prstGeom prst="line">
            <a:avLst/>
          </a:prstGeom>
          <a:noFill/>
          <a:ln w="19050">
            <a:solidFill>
              <a:srgbClr val="FF70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051" y="2359372"/>
            <a:ext cx="22283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故障：设备未加入 Group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051" y="2591098"/>
            <a:ext cx="222834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Index 更新有几秒延迟。检查 Shadow 是否正确上报了 firmwareVersion 字段。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72051" y="2951708"/>
            <a:ext cx="825698" cy="218480"/>
          </a:xfrm>
          <a:prstGeom prst="roundRect">
            <a:avLst>
              <a:gd name="adj" fmla="val 11626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73552" y="2989808"/>
            <a:ext cx="63515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索引延迟排查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9600" y="3423940"/>
            <a:ext cx="7924800" cy="434876"/>
          </a:xfrm>
          <a:prstGeom prst="rect">
            <a:avLst/>
          </a:prstGeom>
          <a:solidFill>
            <a:srgbClr val="FF99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28650" y="3423940"/>
            <a:ext cx="0" cy="434876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850" y="3550890"/>
            <a:ext cx="76300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关键原则：幂等性 + 双模式通知 + SHA256 校验 = 可靠的 OTA 升级流水线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44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9756" y="1390650"/>
            <a:ext cx="362448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64050" y="2117675"/>
            <a:ext cx="1015901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59756" y="2409676"/>
            <a:ext cx="36244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6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Jobs &amp; OTA Upgrade 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59671" y="3066901"/>
            <a:ext cx="20651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Jobs Developer Guide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559671" y="3238351"/>
            <a:ext cx="20651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Indexing &amp; Dynamic Thing Groups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59671" y="3409801"/>
            <a:ext cx="20651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Shadow Service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59671" y="3581251"/>
            <a:ext cx="20651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UpdateJobExecution API Reference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600" dirty="0"/>
          </a:p>
        </p:txBody>
      </p:sp>
      <p:pic>
        <p:nvPicPr>
          <p:cNvPr id="11" name="Image 0" descr="/Users/yunfeilu/Documents/Github/vnas-aws-iot-poc/docs/pptx-workspace/iot-jobs-ota/slides/aw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4320"/>
            <a:ext cx="2560320" cy="10241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IoT Jobs &amp; OTA 升级方案</dc:title>
  <dc:subject>PptxGenJS Presentation</dc:subject>
  <dc:creator>Yunfei Lu</dc:creator>
  <cp:lastModifiedBy>Yunfei Lu</cp:lastModifiedBy>
  <cp:revision>1</cp:revision>
  <dcterms:created xsi:type="dcterms:W3CDTF">2026-03-09T10:10:29Z</dcterms:created>
  <dcterms:modified xsi:type="dcterms:W3CDTF">2026-03-09T10:10:29Z</dcterms:modified>
</cp:coreProperties>
</file>